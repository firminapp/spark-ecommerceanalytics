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Taux de rejet par jeu de données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rejet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8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transactions</c:v>
                  </c:pt>
                  <c:pt idx="1">
                    <c:v>users</c:v>
                  </c:pt>
                  <c:pt idx="2">
                    <c:v>products</c:v>
                  </c:pt>
                  <c:pt idx="3">
                    <c:v>merchants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1.37</c:v>
                </c:pt>
                <c:pt idx="1">
                  <c:v>2.88</c:v>
                </c:pt>
                <c:pt idx="2">
                  <c:v>2.98</c:v>
                </c:pt>
                <c:pt idx="3">
                  <c:v>2.33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8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12700" cap="flat">
              <a:solidFill>
                <a:srgbClr val="E1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Taux de rétention par mois depuis l'acquisition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Cohorte 2024-01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43.09</c:v>
                </c:pt>
                <c:pt idx="2">
                  <c:v>36.32</c:v>
                </c:pt>
                <c:pt idx="3">
                  <c:v>31.62</c:v>
                </c:pt>
                <c:pt idx="4">
                  <c:v>26.62</c:v>
                </c:pt>
                <c:pt idx="5">
                  <c:v>23.09</c:v>
                </c:pt>
                <c:pt idx="6">
                  <c:v>21.62</c:v>
                </c:pt>
                <c:pt idx="7">
                  <c:v>14.12</c:v>
                </c:pt>
                <c:pt idx="8">
                  <c:v>15.15</c:v>
                </c:pt>
                <c:pt idx="9">
                  <c:v>11.47</c:v>
                </c:pt>
                <c:pt idx="10">
                  <c:v>10.59</c:v>
                </c:pt>
                <c:pt idx="11">
                  <c:v>8.24</c:v>
                </c:pt>
                <c:pt idx="12">
                  <c:v>8.24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Cohorte 2024-04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46.07</c:v>
                </c:pt>
                <c:pt idx="2">
                  <c:v>34.43</c:v>
                </c:pt>
                <c:pt idx="3">
                  <c:v>32.3</c:v>
                </c:pt>
                <c:pt idx="4">
                  <c:v>27.38</c:v>
                </c:pt>
                <c:pt idx="5">
                  <c:v>24.26</c:v>
                </c:pt>
                <c:pt idx="6">
                  <c:v>20.16</c:v>
                </c:pt>
                <c:pt idx="7">
                  <c:v>15.08</c:v>
                </c:pt>
                <c:pt idx="8">
                  <c:v>14.59</c:v>
                </c:pt>
                <c:pt idx="9">
                  <c:v>12.62</c:v>
                </c:pt>
                <c:pt idx="10">
                  <c:v>9.34</c:v>
                </c:pt>
                <c:pt idx="11">
                  <c:v>9.18</c:v>
                </c:pt>
                <c:pt idx="12">
                  <c:v>6.89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Cohorte 2024-07</c:v>
                </c:pt>
              </c:strCache>
            </c:strRef>
          </c:tx>
          <c:spPr>
            <a:solidFill>
              <a:srgbClr val="F4A259"/>
            </a:solidFill>
            <a:ln w="38100" cap="flat">
              <a:solidFill>
                <a:srgbClr val="F4A2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59"/>
              </a:solidFill>
              <a:ln w="9525" cap="flat">
                <a:solidFill>
                  <a:srgbClr val="F4A2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100</c:v>
                </c:pt>
                <c:pt idx="1">
                  <c:v>42.2</c:v>
                </c:pt>
                <c:pt idx="2">
                  <c:v>32.8</c:v>
                </c:pt>
                <c:pt idx="3">
                  <c:v>28.9</c:v>
                </c:pt>
                <c:pt idx="4">
                  <c:v>23.94</c:v>
                </c:pt>
                <c:pt idx="5">
                  <c:v>20.57</c:v>
                </c:pt>
                <c:pt idx="6">
                  <c:v>19.15</c:v>
                </c:pt>
                <c:pt idx="7">
                  <c:v>17.73</c:v>
                </c:pt>
                <c:pt idx="8">
                  <c:v>13.3</c:v>
                </c:pt>
                <c:pt idx="9">
                  <c:v>13.65</c:v>
                </c:pt>
                <c:pt idx="10">
                  <c:v>12.06</c:v>
                </c:pt>
                <c:pt idx="11">
                  <c:v>7.62</c:v>
                </c:pt>
                <c:pt idx="12">
                  <c:v>5.14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1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Répartition des 10 906 clients par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5A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8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5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Perdus</c:v>
                  </c:pt>
                  <c:pt idx="1">
                    <c:v>À risque</c:v>
                  </c:pt>
                  <c:pt idx="2">
                    <c:v>Nouveaux</c:v>
                  </c:pt>
                  <c:pt idx="3">
                    <c:v>Champions</c:v>
                  </c:pt>
                  <c:pt idx="4">
                    <c:v>Clients fidèles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4130</c:v>
                </c:pt>
                <c:pt idx="1">
                  <c:v>2282</c:v>
                </c:pt>
                <c:pt idx="2">
                  <c:v>1526</c:v>
                </c:pt>
                <c:pt idx="3">
                  <c:v>1508</c:v>
                </c:pt>
                <c:pt idx="4">
                  <c:v>1460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8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Durée par étape (secondes)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Sans optimisation</c:v>
                </c:pt>
              </c:strCache>
            </c:strRef>
          </c:tx>
          <c:spPr>
            <a:solidFill>
              <a:srgbClr val="5A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Ingestion</c:v>
                  </c:pt>
                  <c:pt idx="1">
                    <c:v>Transformation</c:v>
                  </c:pt>
                  <c:pt idx="2">
                    <c:v>Analytique</c:v>
                  </c:pt>
                  <c:pt idx="3">
                    <c:v>Écriture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21.9</c:v>
                </c:pt>
                <c:pt idx="1">
                  <c:v>1.6</c:v>
                </c:pt>
                <c:pt idx="2">
                  <c:v>22.2</c:v>
                </c:pt>
                <c:pt idx="3">
                  <c:v>43.3</c:v>
                </c:pt>
                <c:pt idx="4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Avec optimisation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Ingestion</c:v>
                  </c:pt>
                  <c:pt idx="1">
                    <c:v>Transformation</c:v>
                  </c:pt>
                  <c:pt idx="2">
                    <c:v>Analytique</c:v>
                  </c:pt>
                  <c:pt idx="3">
                    <c:v>Écriture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7.7</c:v>
                </c:pt>
                <c:pt idx="1">
                  <c:v>8.8</c:v>
                </c:pt>
                <c:pt idx="2">
                  <c:v>12.4</c:v>
                </c:pt>
                <c:pt idx="3">
                  <c:v>19.2</c:v>
                </c:pt>
                <c:pt idx="4">
                  <c:v>48.1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8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138 000 transactions, quatre formats differents, des anomalies volontaires. L'objectif n'est pas seulement de calculer des KPI, c'est de garantir qu'ils sont justes. Presenter le groupe et annoncer le plan : organisation, architecture, puis les cinq parties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qu'un role = un proprietaire = des fichiers distincts, ce qui a supprime les conflits Git. Mentionner les 10 relectures croisees datees dans CONTRIBUTIONS.md et le fait que chacun peut expliquer le code des autres.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Derouler le pipeline de gauche a droite. Souligner les trois socles transversaux : la configuration externalisee, les optimisations pilotables par drapeau, et l'orchestration. Preciser que chaque etape est chronometree.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la volumetrie et les quatre strategies de lecture differentes (schema explicite, schema derive de la case class, Parquet auto-decrit, inference). Le point cle a defendre : le choix des Option[...] et pourquoi un Double primitif aurait fausse la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taux de rejet n'est jamais nul : les regles fonctionnent. Expliquer le piege de la logique SQL a trois valeurs (amount &gt; 0 vaut null si amount est nul). Enchainer sur le bonus 2.5 et les trois jointures left_anti.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Detailler la robustesse de l'UDF : jamais d'exception, une structure Inconnu a la place. Justifier le LEFT join avec le chiffre : 4 300 transactions auraient disparu en INNER. Terminer sur la difference rangeBetween / rowsBetween.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logique du seuil a deux signaux plutot qu'un seul : un achat de nuit n'est pas suspect, un achat de nuit tres au-dessus du panier moyen l'est. Rappeler que tous les seuils sont dans application.conf.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deux ou trois lignes du tableau. Expliquer dense_rank vs rank. Mentionner honnetement les 843 lignes : les identifiants marchands orphelins forment un groupe Inconnu, consequence directe et assumee du LEFT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la forme de la courbe : chute forte au premier mois puis stabilisation. Justifier le choix du mois de premiere transaction plutot que la date d'inscription. Donner la meilleure cohorte a 3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quintiles ntile et surtout l'inversion du score de recence. Presenter les regles d'affectation comme un choix du groupe, defendable et documente, pas comme une verite.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slide ou l'on montre qu'on mesure au lieu d'affirmer. Assumer le chiffre negatif de la transformation et l'expliquer par l'elagage de colonnes. Conclure sur la regle : un cache se juge sur ses reutilisations en aval.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la demonstration ici si le temps le permet : lancer sbt "run ingestion" puis montrer un argument invalide. Insister sur le bloc finally qui garantit l'arret de la SparkSession meme en cas d'echec.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Recapituler les quatre chiffres. Terminer sur les trois lecons, qui sont des lecons d'ingenierie et pas de syntaxe. Enchainer sur la demonstration du pipeline complet et les questions du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FINAL · DATA ENGINEER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d'analyse de données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distribué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3.5.1  ·  Scala 2.12  ·  SBT  ·  136 157 transactions analysées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7223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663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6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BANIGANTE Kpapou  ·  CAMARA Oumar  ·  CHAKVOURNE Frédéric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— août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du groupe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lots équivalents, un propriétaire par lot, relecture croisée obligatoire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3520440" cy="841248"/>
          </a:xfrm>
          <a:prstGeom prst="roundRect">
            <a:avLst>
              <a:gd name="adj" fmla="val 978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BANIGANTE Kpapou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Platform Engineer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004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1, 2 et 7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SBT, build.sbt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4 formats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rapport qualité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externalisée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572768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572768"/>
            <a:ext cx="3520440" cy="841248"/>
          </a:xfrm>
          <a:prstGeom prst="roundRect">
            <a:avLst>
              <a:gd name="adj" fmla="val 978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CAMARA Oumar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2004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extractTimeFeatures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d'enrichissement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de fenêtrage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fraude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572768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296" y="1572768"/>
            <a:ext cx="3520440" cy="841248"/>
          </a:xfrm>
          <a:prstGeom prst="roundRect">
            <a:avLst>
              <a:gd name="adj" fmla="val 9783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11896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CHAKVOURNE Frédéric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Performance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32004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4, 5 et 6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marchands, cohortes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RFM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 Spark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principale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: dépôt Git local, identité configurée par membre, ≥ 4 commits chacun, 10 relectures croisées datées dans CONTRIBUTIONS.md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sources hétérogènes → un DataFrame enrichi → quinze jeux de résultats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208483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759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700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29992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schéma explicite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imbriqué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· CSV inféré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2880360"/>
            <a:ext cx="182880" cy="256032"/>
          </a:xfrm>
          <a:prstGeom prst="rightArrow">
            <a:avLst/>
          </a:prstGeom>
          <a:solidFill>
            <a:srgbClr val="F4A259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187452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08483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21024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26700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29992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rejetées tracées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qualité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880360"/>
            <a:ext cx="182880" cy="256032"/>
          </a:xfrm>
          <a:prstGeom prst="rightArrow">
            <a:avLst/>
          </a:prstGeom>
          <a:solidFill>
            <a:srgbClr val="F4A259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9784" y="187452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34456" y="208483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34456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26700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9992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temporelle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LEFT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glissantes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51192" y="2880360"/>
            <a:ext cx="182880" cy="256032"/>
          </a:xfrm>
          <a:prstGeom prst="rightArrow">
            <a:avLst/>
          </a:prstGeom>
          <a:solidFill>
            <a:srgbClr val="F4A259"/>
          </a:solidFill>
          <a:ln/>
        </p:spPr>
      </p:sp>
      <p:sp>
        <p:nvSpPr>
          <p:cNvPr id="22" name="Shape 20"/>
          <p:cNvSpPr/>
          <p:nvPr/>
        </p:nvSpPr>
        <p:spPr>
          <a:xfrm>
            <a:off x="7443216" y="187452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47888" y="208483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4788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34656" y="26700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29992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marchands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Cohortes · RFM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&amp; régions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64624" y="2880360"/>
            <a:ext cx="182880" cy="256032"/>
          </a:xfrm>
          <a:prstGeom prst="rightArrow">
            <a:avLst/>
          </a:prstGeom>
          <a:solidFill>
            <a:srgbClr val="F4A259"/>
          </a:solidFill>
          <a:ln/>
        </p:spPr>
      </p:sp>
      <p:sp>
        <p:nvSpPr>
          <p:cNvPr id="28" name="Shape 26"/>
          <p:cNvSpPr/>
          <p:nvPr/>
        </p:nvSpPr>
        <p:spPr>
          <a:xfrm>
            <a:off x="9756648" y="187452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61320" y="2084832"/>
            <a:ext cx="475488" cy="4754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6132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26700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884664" y="29992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pour le métier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pour la chaîne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configurés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434840"/>
            <a:ext cx="11155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4572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application.conf — aucun chemin ni seuil codé en dur (Partie 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SparkOptimizations — cache / persist / broadcast pilotés par configuration (Partie 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MainApp — exécution par étape, chronométrage, arrêt propre garanti (Partie 6)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quatre jeux de données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délibérément hétérogènes, anomalies délibérément injectées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138 047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schéma explicite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tableau imbriqué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— 12 fichiers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34856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schéma inféré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présentes dans les fichiers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7083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négatifs ou nuls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horodatages tronqués ou non numériques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âges et revenus incohérents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hors intervalle, commissions invalides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orphelines vers users / products / merchants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7947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parti pris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champs numériques sont déclarés Option[...] dans les case classes.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cela, Spark convertit silencieusement un null en 0 : le montant illisible passerait la règle « amount &gt; 0 » et disparaîtrait du comptage des valeurs nulles.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2 — Ingestion et validation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ligne rejetée n'est perdue : chacune porte le motif de son rejet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55778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0020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29400" y="1755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attrapent bien les anomalies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12140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montants ≤ 0   ·   976 horodatages invalides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âges hors [16 ; 100]   ·   130 revenus ≤ 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notes hors [1 ; 5]   ·   85 prix ≤ 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taux de commission hors [0 ; 1]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356616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62940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2.5 — intégrité référentielle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40690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4 273 user_id · 4 324 product_id · 3 133 merchant_id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correspondent à aucun enregistrement des référentiels validés.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Détectés par trois jointures left_anti — sans collect() côté driver.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rencontré : « amount &gt; 0 » vaut null — et non false — quand amount est nul. Sans coalesce(condition, false), la ligne passait la 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3 — Enrichissement et fenêtrage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UDF robuste, trois jointures LEFT, six colonnes de fenêtrage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extractTimeFeatures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heure, jour de la semaine, mois (en texte)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· is_working_hours (9h–17h)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day_period : Morning / Afternoon / Evening / Night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nulle, vide ou mal formée → structure « Inconnu », jamais d'exception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jointure : LEFT partout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488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INNER join aurait supprimé silencieusement ~4 300 transactions à référence orpheline — plusieurs points de chiffre d'affaires perdus sans aucune alerte.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LEFT, la transaction (le fait métier) est toujours conservée ; les attributs manquants valent « Inconnu ».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transaction_rank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622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par utilisateur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39776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02152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rolling_amount_7d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4622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rangeBetween sur 7 jours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39776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18504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is_active_user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44622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jours distincts / 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39776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34856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days_since_previous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34856" y="44622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sur tx_date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rangeBetween et non rowsBetween : rowsBetween compte 7 lignes, pas 7 jours — un client avec 20 achats le même jour donnait un résultat absurde.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3.4 — Transactions suspectes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signaux de risque, déclenchement dès que deux signaux sont réunis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3566160"/>
          </a:xfrm>
          <a:prstGeom prst="roundRect">
            <a:avLst>
              <a:gd name="adj" fmla="val 2571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2 999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suspectes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2,2 % des 136 157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valides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7635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4528" y="184708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2452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aberrant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939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300 % au-dessus du panier moyen historique du client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0" y="2606040"/>
            <a:ext cx="7635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4528" y="2761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24528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atypique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08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classée « Night » par l'UDF temporelle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3520440"/>
            <a:ext cx="7635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4528" y="367588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24528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Rafale d'achats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922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5 minutes depuis la transaction précédente du même client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4434840"/>
            <a:ext cx="7635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24528" y="45902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24528" y="4590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544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de paiement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837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en CRYPTO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864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seuils sont externalisés dans application.conf (app.business.suspicious) : la règle métier se règle sans recompiler.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4.1 — KPI par marchand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indicateurs par marchand, dont deux classements par fonction de fenêtrage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965960"/>
                <a:gridCol w="960120"/>
                <a:gridCol w="640080"/>
                <a:gridCol w="6858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(€)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(€)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TechStore 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592 105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DigitalHub 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d'Azur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553 077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ElectroWorld 559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Île-de-France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543 545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25 438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TechStore 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d'Azur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476 067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GadgetShop 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Provence-Alpes-Côte d'Azur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84048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Classements par fenêtrage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2140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 sur le chiffre d'affaires, partitionné par catégorie puis par région.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 plutôt que rank : deux marchands à CA égal partagent le même rang sans trouer la numérotation.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3794760"/>
            <a:ext cx="384048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46720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Également calculé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25196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par marchand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totale perçue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CA par tranche d'âge (pivot)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transactions suspectes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 output/csv/02_kpi_marchands — 843 lignes : les 586 marchands référencés, plus les identifiants orphelins regroupés sous « Inconnu » (conséquence assumée du LEFT join).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54,3 M€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614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total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0" y="5029200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017520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2,74 M€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5614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perçues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5029200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394960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× 11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56144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× régions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4.2 — Analyse de cohortes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Cohortes fondées sur le mois de première transaction, et non sur l'inscription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7132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4592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3816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rétention à 3 mois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1214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36,2 %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2025-06 — 122 clients actifs sur 337 acquis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9560" y="365760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13816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du groupe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13308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users.json fournit registration_date, mais nous mesurons la fidélité réelle : un client inscrit en janvier qui n'achète qu'en mai appartient à la cohorte de mai.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4.3 — Segmentation RFM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Récence, fréquence, montant scorés de 1 à 5 par quintiles (ntile)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45920"/>
            <a:ext cx="4983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949440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d'affectation retenues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14884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: R ≥ 4 et F ≥ 4 et M ≥ 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fidèles : F ≥ 4 et R ≥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: R ≥ 4 et F ≤ 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risque : R ≤ 2 et F ≥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: le reste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75120" y="3931920"/>
            <a:ext cx="4983480" cy="1691640"/>
          </a:xfrm>
          <a:prstGeom prst="roundRect">
            <a:avLst>
              <a:gd name="adj" fmla="val 4865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49440" y="4069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du score de récence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44348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ntile(5) sur une récence triée croissante donne 5 au PIRE client. Nous trions la récence en décroissant pour que le score 5 désigne toujours le meilleur profil sur les trois axes.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croisant segment RFM calculé et customer_segment déclaré est produit dans output/csv/04_rfm_croisement.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5 — Optimisations Spark, mesurées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5.3 : le pipeline complet exécuté deux fois, un seul drapeau de configuration change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181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+ 46 %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gain global — 89 s → 48 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3246120"/>
            <a:ext cx="40233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6384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transformation ralentit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730752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cache, Spark élague les colonnes pour un simple count() et ne matérialise presque rien.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persist, il sérialise 136 157 lignes × 49 colonnes. Le coût n'est pas créé : il est avancé — et remboursé par l'analytique et l'écriture.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cache ne se juge jamais sur l'étape qui le crée, mais sur le nombre de réutilisations en aval.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6 — Application principale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d'entrée unique, exécutable étape par étape (bonus 6.2)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548640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007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spark-submit … app.jar all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007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— valeur par défaut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6766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3591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spark-submit … app.jar ingestion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3591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4 sources, validation, rapport de qualité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6766560" cy="548640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spark-submit … app.jar transformation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0175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UDF temporelle, jointures, fenêtrages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21024"/>
            <a:ext cx="6766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6758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spark-submit … app.jar analytics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6758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KPI marchands, cohortes, RFM, produits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6766560" cy="548640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3342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spark-submit … app.jar benchmark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3342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passes comparées, sans puis avec optimisations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1645920"/>
            <a:ext cx="4069080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18120" y="1783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de l'orchestration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12140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construite depuis la configuration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propre garanti par un bloc finally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inconnu → aide + code de sortie 2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journalise sa durée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89520" y="3749040"/>
            <a:ext cx="4069080" cy="1920240"/>
          </a:xfrm>
          <a:prstGeom prst="roundRect">
            <a:avLst>
              <a:gd name="adj" fmla="val 4286"/>
            </a:avLst>
          </a:prstGeom>
          <a:solidFill>
            <a:srgbClr val="F4F7F9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5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18120" y="3886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produites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224528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jeux de résultats, écrits en CSV pour l'équipe métier et en Parquet pour la chaîne de traitement aval.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Chemins, formats et nombre de fichiers : tout vient de application.conf.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57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en conditions réelles : sbt test (9 tests au vert), sbt "run all", puis spark-submit sur la distribution Spark 3.5.1.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 commun complet et six questions bonus sur six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136 157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enrichies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2057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bonus traitées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au vert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2057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684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+46 %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des optimisations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1056132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39136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retenons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279392"/>
            <a:ext cx="9921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Spark, une donnée invalide qui « passe » coûte plus cher qu'une donnée qui casse : les Option et coalesce(cond, false) sont des garde-fous, pas du zèle.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type de jointure est une décision métier — INNER aurait fait disparaître 4 300 transactions réelles sans une seule alerte.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optimisation ne se démontre qu'en la mesurant : le cache ralentit l'étape qui le crée et fait gagner 46 % sur l'ensemble.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: exécution du pipeline complet et lecture commentée des résultats métier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Final Spark &amp; Scala — Groupe 3</dc:title>
  <dc:subject>PptxGenJS Presentation</dc:subject>
  <dc:creator>GROUPE 3</dc:creator>
  <cp:lastModifiedBy>GROUPE 3</cp:lastModifiedBy>
  <cp:revision>1</cp:revision>
  <dcterms:created xsi:type="dcterms:W3CDTF">2026-08-29T17:32:19Z</dcterms:created>
  <dcterms:modified xsi:type="dcterms:W3CDTF">2026-08-29T17:32:19Z</dcterms:modified>
</cp:coreProperties>
</file>